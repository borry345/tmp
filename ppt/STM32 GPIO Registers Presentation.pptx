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17.png"/><Relationship Id="rId7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24.png"/><Relationship Id="rId4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28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4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681" y="2542282"/>
            <a:ext cx="2522636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33445" y="3066157"/>
            <a:ext cx="5924959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Pretendard"/>
              </a:rPr>
              <a:t>STM32 GPIO Registers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39603" y="3980557"/>
            <a:ext cx="7112644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94A3B8"/>
                </a:solidFill>
                <a:latin typeface="Pretendard"/>
              </a:rPr>
              <a:t>General Purpose Input/Output 레지스터의 구조와 제어 메커니즘 심층 분석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181100"/>
            <a:ext cx="5400675" cy="20059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1181100"/>
            <a:ext cx="5400675" cy="200590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415605"/>
            <a:ext cx="5400675" cy="22496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415605"/>
            <a:ext cx="5400675" cy="224968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81025"/>
            <a:ext cx="202703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1419225"/>
            <a:ext cx="419100" cy="419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9150" y="1981200"/>
            <a:ext cx="2175428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retendard SemiBold"/>
              </a:rPr>
              <a:t>1. 설정 레지스터 (4개)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2400300"/>
            <a:ext cx="465073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핀의 입출력 모드, 출력 타입, 속도 및 풀업/풀다운 저항을 설정합니다.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2720280"/>
            <a:ext cx="264110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06B6D4"/>
                </a:solidFill>
                <a:latin typeface="Pretendard"/>
              </a:rPr>
              <a:t>MODER</a:t>
            </a:r>
            <a:r>
              <a:rPr b="0" sz="1050" i="0" u="none">
                <a:solidFill>
                  <a:srgbClr val="06B6D4"/>
                </a:solidFill>
                <a:latin typeface="Pretendard"/>
              </a:rPr>
              <a:t>, </a:t>
            </a:r>
            <a:r>
              <a:rPr b="0" sz="1050" i="0" u="none">
                <a:solidFill>
                  <a:srgbClr val="06B6D4"/>
                </a:solidFill>
                <a:latin typeface="Pretendard"/>
              </a:rPr>
              <a:t>OTYPER</a:t>
            </a:r>
            <a:r>
              <a:rPr b="0" sz="1050" i="0" u="none">
                <a:solidFill>
                  <a:srgbClr val="06B6D4"/>
                </a:solidFill>
                <a:latin typeface="Pretendard"/>
              </a:rPr>
              <a:t>, </a:t>
            </a:r>
            <a:r>
              <a:rPr b="0" sz="1050" i="0" u="none">
                <a:solidFill>
                  <a:srgbClr val="06B6D4"/>
                </a:solidFill>
                <a:latin typeface="Pretendard"/>
              </a:rPr>
              <a:t>OSPEEDR</a:t>
            </a:r>
            <a:r>
              <a:rPr b="0" sz="1050" i="0" u="none">
                <a:solidFill>
                  <a:srgbClr val="06B6D4"/>
                </a:solidFill>
                <a:latin typeface="Pretendard"/>
              </a:rPr>
              <a:t>, </a:t>
            </a:r>
            <a:r>
              <a:rPr b="0" sz="1050" i="0" u="none">
                <a:solidFill>
                  <a:srgbClr val="06B6D4"/>
                </a:solidFill>
                <a:latin typeface="Pretendard"/>
              </a:rPr>
              <a:t>PUPDR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425" y="1419225"/>
            <a:ext cx="419100" cy="4191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48425" y="1981200"/>
            <a:ext cx="239545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retendard SemiBold"/>
              </a:rPr>
              <a:t>2. 데이터 레지스터 (2개)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2400300"/>
            <a:ext cx="3823543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외부 핀 상태를 읽어오거나 출력 전압 상태를 지정합니다.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2720280"/>
            <a:ext cx="23901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06B6D4"/>
                </a:solidFill>
                <a:latin typeface="Pretendard"/>
              </a:rPr>
              <a:t>IDR</a:t>
            </a:r>
            <a:r>
              <a:rPr b="0" sz="1050" i="0" u="none">
                <a:solidFill>
                  <a:srgbClr val="06B6D4"/>
                </a:solidFill>
                <a:latin typeface="Pretendard"/>
              </a:rPr>
              <a:t> (Read-Only), </a:t>
            </a:r>
            <a:r>
              <a:rPr b="0" sz="1050" i="0" u="none">
                <a:solidFill>
                  <a:srgbClr val="06B6D4"/>
                </a:solidFill>
                <a:latin typeface="Pretendard"/>
              </a:rPr>
              <a:t>ODR</a:t>
            </a:r>
            <a:r>
              <a:rPr b="0" sz="1050" i="0" u="none">
                <a:solidFill>
                  <a:srgbClr val="06B6D4"/>
                </a:solidFill>
                <a:latin typeface="Pretendard"/>
              </a:rPr>
              <a:t> (Read/Write)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3653730"/>
            <a:ext cx="419100" cy="4191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9150" y="4215705"/>
            <a:ext cx="24885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retendard SemiBold"/>
              </a:rPr>
              <a:t>3. 세트/리셋 &amp; 잠금 (2개)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4634805"/>
            <a:ext cx="492442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원자적(Atomic) 비트 제어 및 오작동 방지를 위한 동결 보호 기능을 제공합니다.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" y="5198566"/>
            <a:ext cx="9852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06B6D4"/>
                </a:solidFill>
                <a:latin typeface="Pretendard"/>
              </a:rPr>
              <a:t>BSRR</a:t>
            </a:r>
            <a:r>
              <a:rPr b="0" sz="1050" i="0" u="none">
                <a:solidFill>
                  <a:srgbClr val="06B6D4"/>
                </a:solidFill>
                <a:latin typeface="Pretendard"/>
              </a:rPr>
              <a:t>, </a:t>
            </a:r>
            <a:r>
              <a:rPr b="0" sz="1050" i="0" u="none">
                <a:solidFill>
                  <a:srgbClr val="06B6D4"/>
                </a:solidFill>
                <a:latin typeface="Pretendard"/>
              </a:rPr>
              <a:t>LCKR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3653730"/>
            <a:ext cx="419100" cy="4191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48425" y="4215705"/>
            <a:ext cx="267267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retendard SemiBold"/>
              </a:rPr>
              <a:t>4. 대체 기능 레지스터 (2개)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8425" y="4634805"/>
            <a:ext cx="4379714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내부 주변장치(UART, SPI, I2C 등)와 핀을 멀티플렉싱 매핑합니다.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8425" y="4954785"/>
            <a:ext cx="22129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06B6D4"/>
                </a:solidFill>
                <a:latin typeface="Pretendard"/>
              </a:rPr>
              <a:t>AFRL</a:t>
            </a:r>
            <a:r>
              <a:rPr b="0" sz="1050" i="0" u="none">
                <a:solidFill>
                  <a:srgbClr val="06B6D4"/>
                </a:solidFill>
                <a:latin typeface="Pretendard"/>
              </a:rPr>
              <a:t> (Pin 0~7), </a:t>
            </a:r>
            <a:r>
              <a:rPr b="0" sz="1050" i="0" u="none">
                <a:solidFill>
                  <a:srgbClr val="06B6D4"/>
                </a:solidFill>
                <a:latin typeface="Pretendard"/>
              </a:rPr>
              <a:t>AFRH</a:t>
            </a:r>
            <a:r>
              <a:rPr b="0" sz="1050" i="0" u="none">
                <a:solidFill>
                  <a:srgbClr val="06B6D4"/>
                </a:solidFill>
                <a:latin typeface="Pretendard"/>
              </a:rPr>
              <a:t> (Pin 8~15)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4583" y="1533525"/>
            <a:ext cx="148232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858" y="1533525"/>
            <a:ext cx="148232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4583" y="3768030"/>
            <a:ext cx="148232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3858" y="3768030"/>
            <a:ext cx="148232" cy="190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98028" y="485775"/>
            <a:ext cx="1124859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retendard"/>
              </a:rPr>
              <a:t>GPIO 레지스터 분류 (Overview)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71500"/>
            <a:ext cx="202703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625" y="1162050"/>
            <a:ext cx="5095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1F5F9"/>
                </a:solidFill>
                <a:latin typeface="Pretendard SemiBold"/>
              </a:rPr>
              <a:t>역할: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핀의 기본 동작 모드(입력, 출력, 대체기능, 아날로그)를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1520130"/>
            <a:ext cx="5095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1F5F9"/>
                </a:solidFill>
                <a:latin typeface="Pretendard SemiBold"/>
              </a:rPr>
              <a:t>비트 할당: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핀당 2비트 할당 ( 비트 제어)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1878210"/>
            <a:ext cx="5095875" cy="161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1F5F9"/>
                </a:solidFill>
                <a:latin typeface="Pretendard SemiBold"/>
              </a:rPr>
              <a:t>설정 값: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0121" y="3476625"/>
            <a:ext cx="237083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86500" y="3876675"/>
            <a:ext cx="53244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E2E8F0"/>
                </a:solidFill>
                <a:latin typeface="Fira Code SemiBold"/>
              </a:rPr>
              <a:t>[ 이미지 영역: 14moder.png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" y="1162050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" y="1520130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7962" y="1586805"/>
            <a:ext cx="722114" cy="1047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8175" y="1878210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0625" y="2179141"/>
            <a:ext cx="4714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retendard"/>
              </a:rPr>
              <a:t>00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: </a:t>
            </a:r>
            <a:r>
              <a:rPr b="0" sz="1200" i="0" u="none">
                <a:solidFill>
                  <a:srgbClr val="F1F5F9"/>
                </a:solidFill>
                <a:latin typeface="Pretendard SemiBold"/>
              </a:rPr>
              <a:t>Input Mode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- 버튼/센서 신호 입력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0625" y="2537221"/>
            <a:ext cx="4714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retendard"/>
              </a:rPr>
              <a:t>01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: </a:t>
            </a:r>
            <a:r>
              <a:rPr b="0" sz="1200" i="0" u="none">
                <a:solidFill>
                  <a:srgbClr val="F1F5F9"/>
                </a:solidFill>
                <a:latin typeface="Pretendard SemiBold"/>
              </a:rPr>
              <a:t>General Purpose Output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- LED, 리레이 제어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0625" y="2895302"/>
            <a:ext cx="4714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retendard"/>
              </a:rPr>
              <a:t>10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: </a:t>
            </a:r>
            <a:r>
              <a:rPr b="0" sz="1200" i="0" u="none">
                <a:solidFill>
                  <a:srgbClr val="F1F5F9"/>
                </a:solidFill>
                <a:latin typeface="Pretendard SemiBold"/>
              </a:rPr>
              <a:t>Alternate Function Mode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- UART, SPI, I2C, PWM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0625" y="3253382"/>
            <a:ext cx="4714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retendard"/>
              </a:rPr>
              <a:t>11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: </a:t>
            </a:r>
            <a:r>
              <a:rPr b="0" sz="1200" i="0" u="none">
                <a:solidFill>
                  <a:srgbClr val="F1F5F9"/>
                </a:solidFill>
                <a:latin typeface="Pretendard SemiBold"/>
              </a:rPr>
              <a:t>Analog Mode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- ADC/DAC 연결 (디지털 버퍼 OFF)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175" y="2179141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175" y="2537221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175" y="2895302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175" y="3253382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028" y="485775"/>
            <a:ext cx="11248593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retendard"/>
              </a:rPr>
              <a:t>GPIOx_MODER (Port Mode Register)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71500"/>
            <a:ext cx="202703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625" y="1162050"/>
            <a:ext cx="5095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1F5F9"/>
                </a:solidFill>
                <a:latin typeface="Pretendard SemiBold"/>
              </a:rPr>
              <a:t>역할: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출력 모드일 때 동작 방식(Push-Pull 또는 Open-Drain)을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1520130"/>
            <a:ext cx="5095875" cy="902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1F5F9"/>
                </a:solidFill>
                <a:latin typeface="Pretendard SemiBold"/>
              </a:rPr>
              <a:t>비트 구조 (32비트):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537221"/>
            <a:ext cx="5095875" cy="139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1F5F9"/>
                </a:solidFill>
                <a:latin typeface="Pretendard SemiBold"/>
              </a:rPr>
              <a:t>설정 값: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0121" y="3476625"/>
            <a:ext cx="237083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86500" y="3876675"/>
            <a:ext cx="53244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E2E8F0"/>
                </a:solidFill>
                <a:latin typeface="Fira Code SemiBold"/>
              </a:rPr>
              <a:t>[ 이미지 영역: 15otyper.png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" y="1162050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" y="1520130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" y="2537221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0625" y="1821060"/>
            <a:ext cx="4714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retendard"/>
              </a:rPr>
              <a:t>상위 16비트 [31:16]: Reserved (예약 공간, Reset 값 유지)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0625" y="2179141"/>
            <a:ext cx="4714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retendard"/>
              </a:rPr>
              <a:t>하위 16비트 [15:0]: Pin 0 ~ Pin 15 제어 (핀당 1비트)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0625" y="2838152"/>
            <a:ext cx="47148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retendard"/>
              </a:rPr>
              <a:t>0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: </a:t>
            </a:r>
            <a:r>
              <a:rPr b="0" sz="1200" i="0" u="none">
                <a:solidFill>
                  <a:srgbClr val="F1F5F9"/>
                </a:solidFill>
                <a:latin typeface="Pretendard SemiBold"/>
              </a:rPr>
              <a:t>Push-Pull (푸시풀)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- (3.3V) / GND(0V)를 강하게 구동 (기본값)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0625" y="3440013"/>
            <a:ext cx="47148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retendard"/>
              </a:rPr>
              <a:t>1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: </a:t>
            </a:r>
            <a:r>
              <a:rPr b="0" sz="1200" i="0" u="none">
                <a:solidFill>
                  <a:srgbClr val="F1F5F9"/>
                </a:solidFill>
                <a:latin typeface="Pretendard SemiBold"/>
              </a:rPr>
              <a:t>Open-Drain (오픈드레인)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- Low(0V)만 끌어내림, High는 Floating. 통신 및 외부 풀업 레벨 시프팅에 활용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175" y="1821060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175" y="2179141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175" y="2838152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▫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9589" y="2904827"/>
            <a:ext cx="295275" cy="1397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19175" y="3440013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▫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9487" y="3718619"/>
            <a:ext cx="235148" cy="1366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98028" y="485775"/>
            <a:ext cx="11248593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retendard"/>
              </a:rPr>
              <a:t>GPIOx_OTYPER (Output Type Register)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162050"/>
            <a:ext cx="5324475" cy="5210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162050"/>
            <a:ext cx="5324475" cy="5210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71500"/>
            <a:ext cx="202703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" y="1400175"/>
            <a:ext cx="509063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retendard SemiBold"/>
              </a:rPr>
              <a:t>GPIOx_OSPEEDR (Output Speed)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625" y="1400175"/>
            <a:ext cx="509063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retendard SemiBold"/>
              </a:rPr>
              <a:t>GPIOx_PUPDR (Pull-Up/Pull-Down)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1800225"/>
            <a:ext cx="4619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retendard"/>
              </a:rPr>
              <a:t>스위칭 속도(Slew Rate)를 조절하여 노이즈와 전력 소모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2158305"/>
            <a:ext cx="4619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retendard"/>
              </a:rPr>
              <a:t>핀당 2비트 할당 ( 비트)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2516385"/>
            <a:ext cx="4619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retendard"/>
              </a:rPr>
              <a:t>00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Low / 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01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Medium / 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10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Fast / 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11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2874466"/>
            <a:ext cx="4619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retendard"/>
              </a:rPr>
              <a:t>불필요하게 높이면 EMI 노이즈 발생하므로 상황에 맞게 설정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3225" y="1800225"/>
            <a:ext cx="4619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retendard"/>
              </a:rPr>
              <a:t>내부 풀업/풀다운 저항 사용 여부 설정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53225" y="2158305"/>
            <a:ext cx="4619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retendard"/>
              </a:rPr>
              <a:t>입출력 방향과 무관하게 상시 동작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3225" y="2516385"/>
            <a:ext cx="4619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retendard"/>
              </a:rPr>
              <a:t>00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No Pull / 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01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Pull-Up / 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10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Pull-Down / 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11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Reserved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3225" y="2874466"/>
            <a:ext cx="4619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retendard"/>
              </a:rPr>
              <a:t>Open-Drain 출력 시 내부 풀업 적용 가능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1800225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2158305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3555" y="2224980"/>
            <a:ext cx="722114" cy="1047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6300" y="2516385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2874466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4646" y="4464248"/>
            <a:ext cx="237083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19150" y="4864298"/>
            <a:ext cx="48482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E2E8F0"/>
                </a:solidFill>
                <a:latin typeface="Fira Code SemiBold"/>
              </a:rPr>
              <a:t>[ 이미지 영역: 16ospeedr.png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1775" y="1800225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1775" y="2158305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1775" y="2516385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1775" y="2874466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0121" y="4464248"/>
            <a:ext cx="237083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24625" y="4864298"/>
            <a:ext cx="48482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E2E8F0"/>
                </a:solidFill>
                <a:latin typeface="Fira Code SemiBold"/>
              </a:rPr>
              <a:t>[ 이미지 영역: 17pupdr.png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8028" y="485775"/>
            <a:ext cx="11248593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retendard"/>
              </a:rPr>
              <a:t>GPIOx_OSPEEDR &amp; GPIOx_PUPDR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9625" y="1162050"/>
            <a:ext cx="50958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1F5F9"/>
                </a:solidFill>
                <a:latin typeface="Pretendard SemiBold"/>
              </a:rPr>
              <a:t>역할: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외부에서 입력된 핀의 논리 상태(0 또는 1)를 읽는 </a:t>
            </a:r>
            <a:r>
              <a:rPr b="0" sz="1200" i="0" u="none">
                <a:solidFill>
                  <a:srgbClr val="F1F5F9"/>
                </a:solidFill>
                <a:latin typeface="Pretendard SemiBold"/>
              </a:rPr>
              <a:t>Read-Only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레지스터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625" y="1763910"/>
            <a:ext cx="5095875" cy="902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1F5F9"/>
                </a:solidFill>
                <a:latin typeface="Pretendard SemiBold"/>
              </a:rPr>
              <a:t>비트 구조: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2781002"/>
            <a:ext cx="5095875" cy="902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1F5F9"/>
                </a:solidFill>
                <a:latin typeface="Pretendard SemiBold"/>
              </a:rPr>
              <a:t>동작 방식: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121" y="3476625"/>
            <a:ext cx="237083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86500" y="3876675"/>
            <a:ext cx="53244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E2E8F0"/>
                </a:solidFill>
                <a:latin typeface="Fira Code SemiBold"/>
              </a:rPr>
              <a:t>[ 이미지 영역: 18idr.png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" y="1162050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" y="1763910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" y="2781002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0625" y="2064841"/>
            <a:ext cx="4714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retendard"/>
              </a:rPr>
              <a:t>하위 16비트 (Bit 0 ~ 15): Pin 0 ~ 15의 상태와 1:1 매핑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0625" y="2422921"/>
            <a:ext cx="4714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retendard"/>
              </a:rPr>
              <a:t>상위 16비트 (Bit 16 ~ 31): Reserved 공간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0625" y="3081932"/>
            <a:ext cx="4714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retendard"/>
              </a:rPr>
              <a:t>외부 전압은 슈미트 트리거(Schmitt Trigger)를 거침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0625" y="3440013"/>
            <a:ext cx="4714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retendard"/>
              </a:rPr>
              <a:t>매 AHB1 클록 주기마다 자동으로 샘플링되어 업데이트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175" y="2064841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175" y="2422921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175" y="3081932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175" y="3440013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325" y="485775"/>
            <a:ext cx="11461432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retendard"/>
              </a:rPr>
              <a:t>GPIOx_IDR (Input Data Register)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71500"/>
            <a:ext cx="202703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625" y="1162050"/>
            <a:ext cx="5095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1F5F9"/>
                </a:solidFill>
                <a:latin typeface="Pretendard SemiBold"/>
              </a:rPr>
              <a:t>역할: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핀으로 출력할 데이터(0 또는 1)를 지정하는 </a:t>
            </a:r>
            <a:r>
              <a:rPr b="0" sz="1200" i="0" u="none">
                <a:solidFill>
                  <a:srgbClr val="F1F5F9"/>
                </a:solidFill>
                <a:latin typeface="Pretendard SemiBold"/>
              </a:rPr>
              <a:t>Read/Write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레지스터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1520130"/>
            <a:ext cx="5095875" cy="902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1F5F9"/>
                </a:solidFill>
                <a:latin typeface="Pretendard SemiBold"/>
              </a:rPr>
              <a:t>비트 구조: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537221"/>
            <a:ext cx="5095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1F5F9"/>
                </a:solidFill>
                <a:latin typeface="Pretendard SemiBold"/>
              </a:rPr>
              <a:t>출력 제어: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Bit = 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1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(High, 3.3V) / Bit = 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0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(Low, 0V)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2895302"/>
            <a:ext cx="50958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1F5F9"/>
                </a:solidFill>
                <a:latin typeface="Pretendard SemiBold"/>
              </a:rPr>
              <a:t>주의점: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Direct 쓰기(RMW 연산) 시 다른 비트 오염 위험 존재. 실무에서는 원자적 제어가 가능한 </a:t>
            </a:r>
            <a:r>
              <a:rPr b="0" sz="1200" i="0" u="none">
                <a:solidFill>
                  <a:srgbClr val="F1F5F9"/>
                </a:solidFill>
                <a:latin typeface="Pretendard SemiBold"/>
              </a:rPr>
              <a:t>GPIOx_BSRR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사용 권장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0121" y="3476625"/>
            <a:ext cx="237083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86500" y="3876675"/>
            <a:ext cx="53244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E2E8F0"/>
                </a:solidFill>
                <a:latin typeface="Fira Code SemiBold"/>
              </a:rPr>
              <a:t>[ 이미지 영역: 19odr.png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" y="1162050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" y="1520130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175" y="2537221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175" y="2895302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0625" y="1821060"/>
            <a:ext cx="4714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retendard"/>
              </a:rPr>
              <a:t>하위 16비트 (Bit 0 ~ 15): Pin 0 ~ 15의 출력 상태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0625" y="2179141"/>
            <a:ext cx="4714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retendard"/>
              </a:rPr>
              <a:t>상위 16비트 (Bit 16 ~ 31): Reserved 공간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175" y="1821060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175" y="2179141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028" y="485775"/>
            <a:ext cx="11248593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retendard"/>
              </a:rPr>
              <a:t>GPIOx_ODR (Output Data Register)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71500"/>
            <a:ext cx="202703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625" y="1162050"/>
            <a:ext cx="5095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1F5F9"/>
                </a:solidFill>
                <a:latin typeface="Pretendard SemiBold"/>
              </a:rPr>
              <a:t>특징: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단 한 번의 쓰기(Single Atomic Access)로 특정 비트만 안전하게 변경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1520130"/>
            <a:ext cx="5095875" cy="1260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1F5F9"/>
                </a:solidFill>
                <a:latin typeface="Pretendard SemiBold"/>
              </a:rPr>
              <a:t>32비트 구조: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895302"/>
            <a:ext cx="5095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1F5F9"/>
                </a:solidFill>
                <a:latin typeface="Pretendard SemiBold"/>
              </a:rPr>
              <a:t>우선순위: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동일 핀에 Set과 Reset을 동시에 쓰면 </a:t>
            </a:r>
            <a:r>
              <a:rPr b="0" sz="1200" i="0" u="none">
                <a:solidFill>
                  <a:srgbClr val="F1F5F9"/>
                </a:solidFill>
                <a:latin typeface="Pretendard SemiBold"/>
              </a:rPr>
              <a:t>Set(High) 동작이 우선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0121" y="3476625"/>
            <a:ext cx="237083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86500" y="3876675"/>
            <a:ext cx="53244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E2E8F0"/>
                </a:solidFill>
                <a:latin typeface="Fira Code SemiBold"/>
              </a:rPr>
              <a:t>[ 이미지 영역: 20bsrr.png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" y="1162050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" y="1520130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" y="2895302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0625" y="1821060"/>
            <a:ext cx="4714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1F5F9"/>
                </a:solidFill>
                <a:latin typeface="Pretendard SemiBold"/>
              </a:rPr>
              <a:t>하위 16비트 (BS0 ~ BS15, Bit ):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Bit Set (1 쓰면 해당 핀 High)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0625" y="2179141"/>
            <a:ext cx="4714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1F5F9"/>
                </a:solidFill>
                <a:latin typeface="Pretendard SemiBold"/>
              </a:rPr>
              <a:t>상위 16비트 (BR0 ~ BR15, Bit ):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Bit Reset (1 쓰면 해당 핀 Low)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0625" y="2537221"/>
            <a:ext cx="4714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retendard"/>
              </a:rPr>
              <a:t>0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을 쓰는 경우 (No Effect): 기존 상태 유지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175" y="1821060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175" y="2179141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175" y="2537221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▫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4006" y="1887735"/>
            <a:ext cx="42416" cy="1047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7195" y="2245816"/>
            <a:ext cx="365373" cy="1047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98028" y="485775"/>
            <a:ext cx="11248593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retendard"/>
              </a:rPr>
              <a:t>GPIOx_BSRR (Bit Set/Reset Register)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71500"/>
            <a:ext cx="202703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625" y="1162050"/>
            <a:ext cx="50958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1F5F9"/>
                </a:solidFill>
                <a:latin typeface="Pretendard SemiBold"/>
              </a:rPr>
              <a:t>목적: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특정 GPIO 핀의 설정을 동결(Freeze)하여 리셋 전까지 변경 불가능하게 보호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1763910"/>
            <a:ext cx="5095875" cy="495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1F5F9"/>
                </a:solidFill>
                <a:latin typeface="Pretendard SemiBold"/>
              </a:rPr>
              <a:t>잠금 대상 제어 레지스터: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373362"/>
            <a:ext cx="5095875" cy="902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1F5F9"/>
                </a:solidFill>
                <a:latin typeface="Pretendard SemiBold"/>
              </a:rPr>
              <a:t>32비트 레지스터 구성을 통한 쓰기 제어: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390453"/>
            <a:ext cx="5095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1F5F9"/>
                </a:solidFill>
                <a:latin typeface="Pretendard SemiBold"/>
              </a:rPr>
              <a:t>엄격한 32-bit Word Access 시퀀스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필수 적용 (8/16비트 접근 불가)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0121" y="3476625"/>
            <a:ext cx="237083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86500" y="3876675"/>
            <a:ext cx="53244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E2E8F0"/>
                </a:solidFill>
                <a:latin typeface="Fira Code SemiBold"/>
              </a:rPr>
              <a:t>[ 이미지 영역: 21lckr.png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" y="1162050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" y="1763910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2045791"/>
            <a:ext cx="5095875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06B6D4"/>
                </a:solidFill>
                <a:latin typeface="Pretendard"/>
              </a:rPr>
              <a:t>MODER, OTYPER, OSPEEDR, PUPDR, AFRL, AFRH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175" y="2373362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175" y="3390453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0625" y="2674292"/>
            <a:ext cx="4714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retendard"/>
              </a:rPr>
              <a:t>LCK[15:0]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: 잠그고자 하는 대상 핀 선택 (0: Unlocked, 1: Locked)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0625" y="3032373"/>
            <a:ext cx="4714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retendard"/>
              </a:rPr>
              <a:t>LCKK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(Bit 16): Lock Key 비트 (시퀀스 수행용)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175" y="2674292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175" y="3032373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028" y="485775"/>
            <a:ext cx="11248593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retendard"/>
              </a:rPr>
              <a:t>GPIOx_LCKR (Port Configuration Lock Register)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71500"/>
            <a:ext cx="202703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625" y="1162050"/>
            <a:ext cx="50958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1F5F9"/>
                </a:solidFill>
                <a:latin typeface="Pretendard SemiBold"/>
              </a:rPr>
              <a:t>대체 기능(Alternate Function):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핀 개수 한계를 극복하기 위해 내부 주변장치(UART, SPI 등)와 MUX로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1763910"/>
            <a:ext cx="5095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1F5F9"/>
                </a:solidFill>
                <a:latin typeface="Pretendard SemiBold"/>
              </a:rPr>
              <a:t>16개 AF 채널 (AF0 ~ AF15):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 핀당 4비트 설정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121991"/>
            <a:ext cx="5095875" cy="902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1F5F9"/>
                </a:solidFill>
                <a:latin typeface="Pretendard SemiBold"/>
              </a:rPr>
              <a:t>2개의 32비트 레지스터 분할: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139082"/>
            <a:ext cx="5095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retendard"/>
              </a:rPr>
              <a:t>각 I/O 핀은 한 번에 하나의 주변장치 기능만 선택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" y="1162050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" y="1763910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" y="2121991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" y="3139082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6B6D4"/>
                </a:solidFill>
                <a:latin typeface="Pretendard"/>
              </a:rPr>
              <a:t>▪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0121" y="2138362"/>
            <a:ext cx="237083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86500" y="2538412"/>
            <a:ext cx="53244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E2E8F0"/>
                </a:solidFill>
                <a:latin typeface="Fira Code SemiBold"/>
              </a:rPr>
              <a:t>[ 이미지 영역: 22afrl.png ]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0121" y="4814887"/>
            <a:ext cx="237083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86500" y="5214937"/>
            <a:ext cx="53244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E2E8F0"/>
                </a:solidFill>
                <a:latin typeface="Fira Code SemiBold"/>
              </a:rPr>
              <a:t>[ 이미지 영역: 23afrh.png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0625" y="2422921"/>
            <a:ext cx="4714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retendard"/>
              </a:rPr>
              <a:t>GPIOx_AFRL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: Pin 0 ~ Pin 7 제어 (하위 8개 핀)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0625" y="2781002"/>
            <a:ext cx="47148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retendard"/>
              </a:rPr>
              <a:t>GPIOx_AFRH</a:t>
            </a:r>
            <a:r>
              <a:rPr b="0" sz="1200" i="0" u="none">
                <a:solidFill>
                  <a:srgbClr val="CBD5E1"/>
                </a:solidFill>
                <a:latin typeface="Pretendard"/>
              </a:rPr>
              <a:t>: Pin 8 ~ Pin 15 제어 (상위 8개 핀)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175" y="2422921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175" y="2781002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028" y="485775"/>
            <a:ext cx="11248593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retendard"/>
              </a:rPr>
              <a:t>GPIOx_AFRL &amp; GPIOx_AFRH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80071"/>
            <a:ext cx="5324475" cy="14811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581025"/>
            <a:ext cx="202703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7700" y="1179195"/>
            <a:ext cx="1238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retendard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1181100"/>
            <a:ext cx="5133975" cy="24378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PA9 핀의 AF7 기능이 USART1_TX에 매핑됨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1499175"/>
            <a:ext cx="1238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retendard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1501080"/>
            <a:ext cx="5133975" cy="24378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PA9는 Pin 8~15에 해당하므로 </a:t>
            </a:r>
            <a:r>
              <a:rPr b="0" sz="1200" i="0" u="none">
                <a:solidFill>
                  <a:srgbClr val="F1F5F9"/>
                </a:solidFill>
                <a:latin typeface="Pretendard SemiBold"/>
              </a:rPr>
              <a:t>GPIOA_AFRH</a:t>
            </a:r>
            <a:r>
              <a:rPr b="0" sz="1200" i="0" u="none">
                <a:solidFill>
                  <a:srgbClr val="94A3B8"/>
                </a:solidFill>
                <a:latin typeface="Pretendard"/>
              </a:rPr>
              <a:t> 변경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1819155"/>
            <a:ext cx="1238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retendard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1821060"/>
            <a:ext cx="5133975" cy="24378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PA9 비트 위치에 값 </a:t>
            </a:r>
            <a:r>
              <a:rPr b="0" sz="1200" i="0" u="none">
                <a:solidFill>
                  <a:srgbClr val="94A3B8"/>
                </a:solidFill>
                <a:latin typeface="Pretendard"/>
              </a:rPr>
              <a:t>7</a:t>
            </a:r>
            <a:r>
              <a:rPr b="0" sz="1200" i="0" u="none">
                <a:solidFill>
                  <a:srgbClr val="94A3B8"/>
                </a:solidFill>
                <a:latin typeface="Pretendard"/>
              </a:rPr>
              <a:t> (이진수 </a:t>
            </a:r>
            <a:r>
              <a:rPr b="0" sz="1200" i="0" u="none">
                <a:solidFill>
                  <a:srgbClr val="94A3B8"/>
                </a:solidFill>
                <a:latin typeface="Pretendard"/>
              </a:rPr>
              <a:t>0111</a:t>
            </a:r>
            <a:r>
              <a:rPr b="0" sz="1200" i="0" u="none">
                <a:solidFill>
                  <a:srgbClr val="94A3B8"/>
                </a:solidFill>
                <a:latin typeface="Pretendard"/>
              </a:rPr>
              <a:t>)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2139136"/>
            <a:ext cx="1238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retendard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2141041"/>
            <a:ext cx="5133975" cy="24378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MUX 스위치가 AF7로 전환되어 USART1 모듈과 직렬 연결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2661046"/>
            <a:ext cx="316378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1" u="none">
                <a:solidFill>
                  <a:srgbClr val="64748B"/>
                </a:solidFill>
                <a:latin typeface="Fira Code"/>
              </a:rPr>
              <a:t>// 1. Direct Register Access (Bare-metal)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2746" y="2661046"/>
            <a:ext cx="7724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FBBF24"/>
                </a:solidFill>
                <a:latin typeface="Fira Code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0234" y="2661046"/>
            <a:ext cx="23157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FBBF24"/>
                </a:solidFill>
                <a:latin typeface="Fira Code"/>
              </a:rPr>
              <a:t>0xF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8861" y="2853928"/>
            <a:ext cx="7724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FBBF24"/>
                </a:solidFill>
                <a:latin typeface="Fira Code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7679" y="2853928"/>
            <a:ext cx="7724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FBBF24"/>
                </a:solidFill>
                <a:latin typeface="Fira Code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3591" y="2853928"/>
            <a:ext cx="7724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FBBF24"/>
                </a:solidFill>
                <a:latin typeface="Fira Cod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8417" y="2853928"/>
            <a:ext cx="7724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FBBF24"/>
                </a:solidFill>
                <a:latin typeface="Fira Code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8664" y="2853928"/>
            <a:ext cx="7724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FBBF24"/>
                </a:solidFill>
                <a:latin typeface="Fira Code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8910" y="2853928"/>
            <a:ext cx="7724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FBBF24"/>
                </a:solidFill>
                <a:latin typeface="Fira Code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7728" y="2853928"/>
            <a:ext cx="7724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FBBF24"/>
                </a:solidFill>
                <a:latin typeface="Fira Code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33639" y="2853928"/>
            <a:ext cx="7724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FBBF24"/>
                </a:solidFill>
                <a:latin typeface="Fira Code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950" y="2853928"/>
            <a:ext cx="4862512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1" u="none">
                <a:solidFill>
                  <a:srgbClr val="64748B"/>
                </a:solidFill>
                <a:latin typeface="Fira Code"/>
              </a:rPr>
              <a:t>// 2. STM32 HAL Library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32111" y="3046809"/>
            <a:ext cx="123467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38BDF8"/>
                </a:solidFill>
                <a:latin typeface="Fira Code"/>
              </a:rPr>
              <a:t>GPIO_InitTypeDef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0137" y="3046809"/>
            <a:ext cx="7724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FBBF24"/>
                </a:solidFill>
                <a:latin typeface="Fira Code"/>
              </a:rPr>
              <a:t>0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0121" y="3486150"/>
            <a:ext cx="237083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86500" y="3886200"/>
            <a:ext cx="53244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E2E8F0"/>
                </a:solidFill>
                <a:latin typeface="Fira Code SemiBold"/>
              </a:rPr>
              <a:t>[ 이미지 영역: 6.png (Datasheet MUX)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8028" y="485775"/>
            <a:ext cx="1124859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retendard"/>
              </a:rPr>
              <a:t>AF 설정 실습 예시 (PA9 -&gt; USART1_TX)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81025"/>
            <a:ext cx="202703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181100"/>
            <a:ext cx="53244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retendard"/>
              </a:rPr>
              <a:t>포트 1개당 </a:t>
            </a:r>
            <a:r>
              <a:rPr b="0" sz="1200" i="0" u="none">
                <a:solidFill>
                  <a:srgbClr val="F1F5F9"/>
                </a:solidFill>
                <a:latin typeface="Pretendard SemiBold"/>
              </a:rPr>
              <a:t>총 10개의 32비트 레지스터</a:t>
            </a:r>
            <a:r>
              <a:rPr b="0" sz="1200" i="0" u="none">
                <a:solidFill>
                  <a:srgbClr val="94A3B8"/>
                </a:solidFill>
                <a:latin typeface="Pretendard"/>
              </a:rPr>
              <a:t>가 존재하며, 16개의 물리 핀을 제어합니다.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1025" y="1811535"/>
          <a:ext cx="5314949" cy="361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088380"/>
                <a:gridCol w="1912887"/>
                <a:gridCol w="2313682"/>
              </a:tblGrid>
              <a:tr h="603250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8BDF8"/>
                          </a:solidFill>
                          <a:latin typeface="Pretendard SemiBold"/>
                        </a:rPr>
                        <a:t>범주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8BDF8"/>
                          </a:solidFill>
                          <a:latin typeface="Pretendard SemiBold"/>
                        </a:rPr>
                        <a:t>레지스터 이름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8BDF8"/>
                          </a:solidFill>
                          <a:latin typeface="Pretendard SemiBold"/>
                        </a:rPr>
                        <a:t>비트 할당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8FAFC"/>
                          </a:solidFill>
                          <a:latin typeface="Pretendard"/>
                        </a:rPr>
                        <a:t>설정 레지스터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8FAFC"/>
                          </a:solidFill>
                          <a:latin typeface="Pretendard"/>
                        </a:rPr>
                        <a:t>MODER, OSPEEDR, PUPDR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8FAFC"/>
                          </a:solidFill>
                          <a:latin typeface="Pretendard"/>
                        </a:rPr>
                        <a:t>핀당 2비트 (32비트 전체 사용)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8FAFC"/>
                          </a:solidFill>
                          <a:latin typeface="Pretendard"/>
                        </a:rPr>
                        <a:t>OTYPER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8FAFC"/>
                          </a:solidFill>
                          <a:latin typeface="Pretendard"/>
                        </a:rPr>
                        <a:t>핀당 1비트 (하위 16비트 사용)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8FAFC"/>
                          </a:solidFill>
                          <a:latin typeface="Pretendard"/>
                        </a:rPr>
                        <a:t>데이터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8FAFC"/>
                          </a:solidFill>
                          <a:latin typeface="Pretendard"/>
                        </a:rPr>
                        <a:t>IDR, ODR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8FAFC"/>
                          </a:solidFill>
                          <a:latin typeface="Pretendard"/>
                        </a:rPr>
                        <a:t>핀당 1비트 (하위 16비트 사용)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8FAFC"/>
                          </a:solidFill>
                          <a:latin typeface="Pretendard"/>
                        </a:rPr>
                        <a:t>제어/보호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8FAFC"/>
                          </a:solidFill>
                          <a:latin typeface="Pretendard"/>
                        </a:rPr>
                        <a:t>BSRR, LCKR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8FAFC"/>
                          </a:solidFill>
                          <a:latin typeface="Pretendard"/>
                        </a:rPr>
                        <a:t>32비트 특수 원자적 제어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8FAFC"/>
                          </a:solidFill>
                          <a:latin typeface="Pretendard"/>
                        </a:rPr>
                        <a:t>대체기능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8FAFC"/>
                          </a:solidFill>
                          <a:latin typeface="Pretendard"/>
                        </a:rPr>
                        <a:t>AFRL, AFRH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8FAFC"/>
                          </a:solidFill>
                          <a:latin typeface="Pretendard"/>
                        </a:rPr>
                        <a:t>핀당 4비트 (AFRL:0~7, AFRH:8~15)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0121" y="2152650"/>
            <a:ext cx="237083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86500" y="2552700"/>
            <a:ext cx="53244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E2E8F0"/>
                </a:solidFill>
                <a:latin typeface="Fira Code SemiBold"/>
              </a:rPr>
              <a:t>[ 이미지 영역: 24.png ]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0121" y="4819650"/>
            <a:ext cx="237083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86500" y="5219700"/>
            <a:ext cx="53244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E2E8F0"/>
                </a:solidFill>
                <a:latin typeface="Fira Code SemiBold"/>
              </a:rPr>
              <a:t>[ 이미지 영역: 25.png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8028" y="485775"/>
            <a:ext cx="1124859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retendard"/>
              </a:rPr>
              <a:t>GPIO 포트 레지스터 요약 (Summary)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